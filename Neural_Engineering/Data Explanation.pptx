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02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E845-C803-5767-104A-F8418DA20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7766D-F460-75D4-9C6F-412EDB571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1CBC4-B919-E286-22F6-69F6CADC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2F6EC-0DDA-0B70-1DF1-5173951F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6DE95-A776-6EBC-0633-D0812777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6C6C-EB4F-F6DE-1C3F-AC4798CD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C823-8098-20DC-1DB5-09F900DAD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D288C-600D-599A-6741-5E49BBD6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6525E-8C38-3C1C-DB34-9C523EB0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45FF-8EE7-849E-6403-BD09C13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5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D23D-9A37-79F4-6B1D-6C7AEDFE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DCACE-0EB3-2308-5171-BA20791E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890A4-5788-44E0-ACE8-7B60766F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13823-367A-7A2F-3C40-153F6F57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E3DCB-E1E3-AF98-33EE-9A7B08E6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6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FDA4-1EDC-DD3C-F7E0-191B89CB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18BC-8520-A1EA-2F50-38CB9BD68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27295-91AD-7AA1-2FD3-A04660A2C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E13E3-BB18-45C7-48FE-628DED8F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9F12E-B09A-E703-6599-B95B18DF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922C3-A064-1469-A807-AA23FCB5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4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DE25A-FD7C-AABA-6CAE-79A9932D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8660F-8DAD-6C8F-A2A5-0AB156FBB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B3BA1-7E06-E5F1-84CB-9C833C1FA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44B82-393F-7D56-876A-B06D81E38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6B592-9734-8963-3AAF-A8171CE2F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3684E-B3F3-4B3A-0CB1-36D91966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C26B6C-A4C1-7079-1C9C-87DEFF46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C6909-0263-E5EA-E091-86E3F691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C44F-D9DF-074B-F1F6-C9DA1D12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AD8B8-381C-BF93-02A1-9ECEB620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66FAC-76A3-173A-CF7B-F1CFABDE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8E91C-66AB-166A-3080-9A6185BE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9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C369B-8CEF-5FB6-8DCA-7B62BBAB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DACB9-FAE1-D225-ED57-4EC89790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6C42E-DCF0-129C-727F-D9A762F6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2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50AC-1CD8-E88A-6C28-18BAE174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9741-BC52-E54D-610E-0652AF5DC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A5F65-217E-75CC-7424-2CE5369A2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D6C0D-E366-AFBB-EAE0-81531714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B95FA-7521-B41A-25AA-BD9AC69F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C15B7-CC55-DCFE-87E6-E71E235A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16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8D37-12FA-C9FE-FA1B-73CE7EB95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27A99-000C-1081-10F0-6E6089D2B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7444E-EF19-910A-F351-A597B2C0C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DC97B-DF39-FDCE-1837-6961B0F4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E160E-A7C4-72BB-CC7B-27D24C96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BB80-7B65-7652-101D-733CC50D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96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18A8-B959-A906-A7F9-6DEFDBBE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8B6C6-B013-AA69-4E49-B0AA77FB7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48361-A958-7008-582A-103411FA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7D044-C895-BF9D-82B6-F33C4704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36191-E7BF-23D7-7E7A-D6536445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6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B7317-D13C-404B-958E-E82CFEBC4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2A235-899F-64E8-C8E1-F9F518920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F5EF4-F20D-C79F-DA4A-D398F8E2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AC7B4-89EA-AB6A-062D-F3FA938C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2973-154A-F76D-E8C6-33086060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4484C-917C-CABE-C31E-598002BE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9F9F7-F700-93DC-15DB-106764382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741F-01AC-893D-0ABD-EE8882058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37383-B659-BD46-A768-2FA6BCCEA81C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B7C-FDC0-9360-2DD8-F0F3CF624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C53DD-9683-B059-920E-521D0D63C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9FD18-AC4E-0340-9109-5EABB4ACD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A7B7-E02A-B73C-DB80-17137FAA3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LB" dirty="0"/>
              <a:t>Data Explanation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948BF-A907-6664-A615-024DCD9208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LB" dirty="0"/>
              <a:t>Neural Engineering – SP25</a:t>
            </a:r>
          </a:p>
          <a:p>
            <a:r>
              <a:rPr lang="en-LB" dirty="0"/>
              <a:t>Alex Mikhael</a:t>
            </a:r>
          </a:p>
          <a:p>
            <a:r>
              <a:rPr lang="en-LB" dirty="0"/>
              <a:t>Prof. Jose del.R Millan</a:t>
            </a:r>
          </a:p>
        </p:txBody>
      </p:sp>
    </p:spTree>
    <p:extLst>
      <p:ext uri="{BB962C8B-B14F-4D97-AF65-F5344CB8AC3E}">
        <p14:creationId xmlns:p14="http://schemas.microsoft.com/office/powerpoint/2010/main" val="184582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688E-3998-F54F-D3B9-E1432BCE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TASK DESIGN – NBACK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D43E0-BE48-B845-B435-E0A5AD9D746A}"/>
              </a:ext>
            </a:extLst>
          </p:cNvPr>
          <p:cNvSpPr txBox="1"/>
          <p:nvPr/>
        </p:nvSpPr>
        <p:spPr>
          <a:xfrm>
            <a:off x="838200" y="1506022"/>
            <a:ext cx="2234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/>
              <a:t>Numbers (0-9), N = 2</a:t>
            </a:r>
          </a:p>
          <a:p>
            <a:endParaRPr lang="en-LB" dirty="0"/>
          </a:p>
          <a:p>
            <a:r>
              <a:rPr lang="en-LB" dirty="0"/>
              <a:t>1 Trial 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75EA81-4980-3EE8-362E-A48BC36742F4}"/>
              </a:ext>
            </a:extLst>
          </p:cNvPr>
          <p:cNvGrpSpPr/>
          <p:nvPr/>
        </p:nvGrpSpPr>
        <p:grpSpPr>
          <a:xfrm>
            <a:off x="1006304" y="2595282"/>
            <a:ext cx="2838994" cy="2824999"/>
            <a:chOff x="7672251" y="2595153"/>
            <a:chExt cx="2838994" cy="28249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B727D5-ED51-9C5B-7403-9C6CD8829263}"/>
                </a:ext>
              </a:extLst>
            </p:cNvPr>
            <p:cNvSpPr/>
            <p:nvPr/>
          </p:nvSpPr>
          <p:spPr>
            <a:xfrm>
              <a:off x="7672251" y="2595153"/>
              <a:ext cx="2838994" cy="19942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B97825-F9B7-CAEF-2BB9-C868BE75FA4A}"/>
                </a:ext>
              </a:extLst>
            </p:cNvPr>
            <p:cNvSpPr txBox="1"/>
            <p:nvPr/>
          </p:nvSpPr>
          <p:spPr>
            <a:xfrm>
              <a:off x="8835107" y="3176784"/>
              <a:ext cx="5132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sz="4800" b="1" dirty="0">
                  <a:solidFill>
                    <a:schemeClr val="accent1"/>
                  </a:solidFill>
                </a:rPr>
                <a:t>+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4E9617-8659-A1E0-CFE1-CF34014FC3CF}"/>
                </a:ext>
              </a:extLst>
            </p:cNvPr>
            <p:cNvSpPr txBox="1"/>
            <p:nvPr/>
          </p:nvSpPr>
          <p:spPr>
            <a:xfrm>
              <a:off x="8636335" y="4626320"/>
              <a:ext cx="1034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dirty="0"/>
                <a:t>1500 ms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AB93FB-3417-05FB-8D84-7FECA205DC0F}"/>
                </a:ext>
              </a:extLst>
            </p:cNvPr>
            <p:cNvSpPr txBox="1"/>
            <p:nvPr/>
          </p:nvSpPr>
          <p:spPr>
            <a:xfrm>
              <a:off x="8569810" y="5050820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dirty="0"/>
                <a:t>Baseline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DCB73E7-9284-ADFA-BA3F-0927627F7436}"/>
              </a:ext>
            </a:extLst>
          </p:cNvPr>
          <p:cNvSpPr/>
          <p:nvPr/>
        </p:nvSpPr>
        <p:spPr>
          <a:xfrm>
            <a:off x="6493500" y="1241199"/>
            <a:ext cx="1105988" cy="531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CA680-D5DD-FACC-C308-ACA205F29315}"/>
              </a:ext>
            </a:extLst>
          </p:cNvPr>
          <p:cNvSpPr txBox="1"/>
          <p:nvPr/>
        </p:nvSpPr>
        <p:spPr>
          <a:xfrm>
            <a:off x="6623942" y="132214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>
                <a:solidFill>
                  <a:schemeClr val="bg1"/>
                </a:solidFill>
              </a:rPr>
              <a:t>NBack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A39-C48C-AEE8-1D8A-6D18639CC4A4}"/>
              </a:ext>
            </a:extLst>
          </p:cNvPr>
          <p:cNvSpPr txBox="1"/>
          <p:nvPr/>
        </p:nvSpPr>
        <p:spPr>
          <a:xfrm>
            <a:off x="7705022" y="1182856"/>
            <a:ext cx="3874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>
                <a:sym typeface="Wingdings" pitchFamily="2" charset="2"/>
              </a:rPr>
              <a:t>7 runs  N =2</a:t>
            </a:r>
          </a:p>
          <a:p>
            <a:r>
              <a:rPr lang="en-LB" dirty="0">
                <a:sym typeface="Wingdings" pitchFamily="2" charset="2"/>
              </a:rPr>
              <a:t>25 trials / run, 175 trials/block in total</a:t>
            </a:r>
            <a:endParaRPr lang="en-L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98F86D-CBE6-1743-0404-5CD88388C544}"/>
              </a:ext>
            </a:extLst>
          </p:cNvPr>
          <p:cNvGrpSpPr/>
          <p:nvPr/>
        </p:nvGrpSpPr>
        <p:grpSpPr>
          <a:xfrm>
            <a:off x="4110595" y="2595154"/>
            <a:ext cx="6052457" cy="3451918"/>
            <a:chOff x="1384663" y="2595154"/>
            <a:chExt cx="6052457" cy="345191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241395-A781-7C6E-E06F-10233E1271A3}"/>
                </a:ext>
              </a:extLst>
            </p:cNvPr>
            <p:cNvSpPr/>
            <p:nvPr/>
          </p:nvSpPr>
          <p:spPr>
            <a:xfrm>
              <a:off x="1384663" y="2595155"/>
              <a:ext cx="2838994" cy="19942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18D3145-DC3B-781E-5CA0-F77412E53835}"/>
                </a:ext>
              </a:extLst>
            </p:cNvPr>
            <p:cNvSpPr/>
            <p:nvPr/>
          </p:nvSpPr>
          <p:spPr>
            <a:xfrm>
              <a:off x="4528457" y="2595154"/>
              <a:ext cx="2838994" cy="19942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64BA532-21C2-2B89-D111-D636212EADA2}"/>
                </a:ext>
              </a:extLst>
            </p:cNvPr>
            <p:cNvSpPr txBox="1"/>
            <p:nvPr/>
          </p:nvSpPr>
          <p:spPr>
            <a:xfrm>
              <a:off x="2485803" y="3038286"/>
              <a:ext cx="63671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sz="66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B92477-7563-4433-BC09-83C859870076}"/>
                </a:ext>
              </a:extLst>
            </p:cNvPr>
            <p:cNvSpPr txBox="1"/>
            <p:nvPr/>
          </p:nvSpPr>
          <p:spPr>
            <a:xfrm>
              <a:off x="2348745" y="4626320"/>
              <a:ext cx="910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dirty="0"/>
                <a:t>500 ms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D2A6567-969D-B61D-1472-6B5F0BC7DEA6}"/>
                </a:ext>
              </a:extLst>
            </p:cNvPr>
            <p:cNvSpPr txBox="1"/>
            <p:nvPr/>
          </p:nvSpPr>
          <p:spPr>
            <a:xfrm>
              <a:off x="5691313" y="3176785"/>
              <a:ext cx="5132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sz="4800" b="1" dirty="0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DFA75F-E977-CA4F-6F7E-CA7838236965}"/>
                </a:ext>
              </a:extLst>
            </p:cNvPr>
            <p:cNvSpPr txBox="1"/>
            <p:nvPr/>
          </p:nvSpPr>
          <p:spPr>
            <a:xfrm>
              <a:off x="5492540" y="4626320"/>
              <a:ext cx="910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B" dirty="0"/>
                <a:t>600 ms</a:t>
              </a:r>
            </a:p>
          </p:txBody>
        </p:sp>
        <p:sp>
          <p:nvSpPr>
            <p:cNvPr id="20" name="Left Bracket 19">
              <a:extLst>
                <a:ext uri="{FF2B5EF4-FFF2-40B4-BE49-F238E27FC236}">
                  <a16:creationId xmlns:a16="http://schemas.microsoft.com/office/drawing/2014/main" id="{E0E2618C-3A66-DE4A-08FA-6036D64D9901}"/>
                </a:ext>
              </a:extLst>
            </p:cNvPr>
            <p:cNvSpPr/>
            <p:nvPr/>
          </p:nvSpPr>
          <p:spPr>
            <a:xfrm rot="16200000">
              <a:off x="4341971" y="2214068"/>
              <a:ext cx="147460" cy="6042838"/>
            </a:xfrm>
            <a:prstGeom prst="leftBracket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L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69927F-286B-66CB-4C45-2102935204A6}"/>
                </a:ext>
              </a:extLst>
            </p:cNvPr>
            <p:cNvSpPr txBox="1"/>
            <p:nvPr/>
          </p:nvSpPr>
          <p:spPr>
            <a:xfrm>
              <a:off x="2920804" y="5400741"/>
              <a:ext cx="29897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LB" dirty="0"/>
                <a:t>Subject can respond</a:t>
              </a:r>
            </a:p>
            <a:p>
              <a:pPr algn="ctr"/>
              <a:r>
                <a:rPr lang="en-LB" dirty="0"/>
                <a:t>Button press (Z : No, M : Yes)</a:t>
              </a:r>
            </a:p>
          </p:txBody>
        </p:sp>
      </p:grp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FE3FBD3B-DE32-BD77-D59D-BFD8DF70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28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8F4F9AE-4966-570A-0A57-D3A992A6B733}"/>
              </a:ext>
            </a:extLst>
          </p:cNvPr>
          <p:cNvSpPr/>
          <p:nvPr/>
        </p:nvSpPr>
        <p:spPr>
          <a:xfrm>
            <a:off x="383021" y="1274840"/>
            <a:ext cx="1358997" cy="1377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dirty="0"/>
              <a:t>NBACK TRAINING</a:t>
            </a:r>
          </a:p>
          <a:p>
            <a:pPr algn="ctr"/>
            <a:r>
              <a:rPr lang="en-LB" dirty="0"/>
              <a:t>+</a:t>
            </a:r>
          </a:p>
          <a:p>
            <a:pPr algn="ctr"/>
            <a:r>
              <a:rPr lang="en-LB" dirty="0"/>
              <a:t>GEL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037D0-7C89-DBC6-C0AD-FC84C2D5AC6E}"/>
              </a:ext>
            </a:extLst>
          </p:cNvPr>
          <p:cNvSpPr txBox="1"/>
          <p:nvPr/>
        </p:nvSpPr>
        <p:spPr>
          <a:xfrm>
            <a:off x="2847657" y="2663002"/>
            <a:ext cx="1608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LB" dirty="0"/>
              <a:t>5 blocks</a:t>
            </a:r>
          </a:p>
          <a:p>
            <a:pPr algn="ctr"/>
            <a:r>
              <a:rPr lang="en-US" dirty="0"/>
              <a:t>5</a:t>
            </a:r>
            <a:r>
              <a:rPr lang="en-LB"/>
              <a:t>0 trials</a:t>
            </a:r>
            <a:r>
              <a:rPr lang="en-LB" dirty="0"/>
              <a:t>/block</a:t>
            </a:r>
          </a:p>
          <a:p>
            <a:pPr algn="ctr"/>
            <a:r>
              <a:rPr lang="en-LB" dirty="0"/>
              <a:t>N = 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526CC36-0C9A-C2D8-C29B-5E20E4C6DD64}"/>
              </a:ext>
            </a:extLst>
          </p:cNvPr>
          <p:cNvSpPr/>
          <p:nvPr/>
        </p:nvSpPr>
        <p:spPr>
          <a:xfrm>
            <a:off x="4696532" y="1244596"/>
            <a:ext cx="1069431" cy="13948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/>
              <a:t>tACS</a:t>
            </a:r>
            <a:r>
              <a:rPr lang="en-US" dirty="0"/>
              <a:t>/</a:t>
            </a:r>
          </a:p>
          <a:p>
            <a:pPr algn="ctr"/>
            <a:r>
              <a:rPr lang="en-US" dirty="0"/>
              <a:t>control</a:t>
            </a:r>
            <a:endParaRPr lang="en-L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9422F8-9F26-95A8-2A1D-1FE7A4BD4F85}"/>
              </a:ext>
            </a:extLst>
          </p:cNvPr>
          <p:cNvSpPr txBox="1"/>
          <p:nvPr/>
        </p:nvSpPr>
        <p:spPr>
          <a:xfrm>
            <a:off x="4578590" y="2678875"/>
            <a:ext cx="1292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LB" dirty="0"/>
              <a:t>20 minutes</a:t>
            </a:r>
          </a:p>
          <a:p>
            <a:pPr algn="ctr"/>
            <a:r>
              <a:rPr lang="en-LB" dirty="0"/>
              <a:t>2 mA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41B3E5B-5FDC-8E10-7CBA-A8EAE4B20FB8}"/>
              </a:ext>
            </a:extLst>
          </p:cNvPr>
          <p:cNvSpPr/>
          <p:nvPr/>
        </p:nvSpPr>
        <p:spPr>
          <a:xfrm>
            <a:off x="6326288" y="1215311"/>
            <a:ext cx="1069431" cy="1413880"/>
          </a:xfrm>
          <a:prstGeom prst="round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LB"/>
              <a:t>NBACK</a:t>
            </a:r>
            <a:endParaRPr lang="en-US" dirty="0"/>
          </a:p>
          <a:p>
            <a:pPr algn="ctr"/>
            <a:r>
              <a:rPr lang="en-US" dirty="0"/>
              <a:t>Offline</a:t>
            </a:r>
            <a:endParaRPr lang="en-L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A080A-1DF1-70BE-DA72-4328AEACE615}"/>
              </a:ext>
            </a:extLst>
          </p:cNvPr>
          <p:cNvSpPr txBox="1"/>
          <p:nvPr/>
        </p:nvSpPr>
        <p:spPr>
          <a:xfrm>
            <a:off x="6136744" y="2610140"/>
            <a:ext cx="1608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8 </a:t>
            </a:r>
            <a:r>
              <a:rPr lang="en-LB"/>
              <a:t>blocks</a:t>
            </a:r>
            <a:endParaRPr lang="en-LB" dirty="0"/>
          </a:p>
          <a:p>
            <a:pPr algn="ctr"/>
            <a:r>
              <a:rPr lang="en-US" dirty="0"/>
              <a:t>5</a:t>
            </a:r>
            <a:r>
              <a:rPr lang="en-LB"/>
              <a:t>0 </a:t>
            </a:r>
            <a:r>
              <a:rPr lang="en-LB" dirty="0"/>
              <a:t>trials/block</a:t>
            </a:r>
          </a:p>
          <a:p>
            <a:pPr algn="ctr"/>
            <a:r>
              <a:rPr lang="en-LB" dirty="0"/>
              <a:t>N = 2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62805E4-C7EA-E760-0C32-EA4B53825451}"/>
              </a:ext>
            </a:extLst>
          </p:cNvPr>
          <p:cNvSpPr/>
          <p:nvPr/>
        </p:nvSpPr>
        <p:spPr>
          <a:xfrm>
            <a:off x="5765963" y="1249121"/>
            <a:ext cx="560325" cy="139030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dirty="0"/>
              <a:t>EC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11BD6F-1819-C804-34C0-BE8BE9397E0F}"/>
              </a:ext>
            </a:extLst>
          </p:cNvPr>
          <p:cNvSpPr/>
          <p:nvPr/>
        </p:nvSpPr>
        <p:spPr>
          <a:xfrm>
            <a:off x="1729577" y="1291746"/>
            <a:ext cx="871165" cy="1347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dirty="0"/>
              <a:t>Rest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A49EB1-307B-D92D-CA28-FE6B09654431}"/>
              </a:ext>
            </a:extLst>
          </p:cNvPr>
          <p:cNvSpPr txBox="1"/>
          <p:nvPr/>
        </p:nvSpPr>
        <p:spPr>
          <a:xfrm>
            <a:off x="1128539" y="2663000"/>
            <a:ext cx="2036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B" sz="1600" dirty="0"/>
              <a:t>Eyes closed 2 min</a:t>
            </a:r>
          </a:p>
          <a:p>
            <a:pPr algn="ctr"/>
            <a:r>
              <a:rPr lang="en-LB" sz="1600" dirty="0"/>
              <a:t>Get tACS taget</a:t>
            </a:r>
            <a:br>
              <a:rPr lang="en-LB" sz="1600" dirty="0"/>
            </a:br>
            <a:r>
              <a:rPr lang="en-LB" sz="1600" dirty="0"/>
              <a:t>frequency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173EA81-4A67-72A3-C577-03E2D5C01B3B}"/>
              </a:ext>
            </a:extLst>
          </p:cNvPr>
          <p:cNvSpPr txBox="1">
            <a:spLocks/>
          </p:cNvSpPr>
          <p:nvPr/>
        </p:nvSpPr>
        <p:spPr>
          <a:xfrm>
            <a:off x="84630" y="-2738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LB" dirty="0"/>
              <a:t>tACS and Nback task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36496-E520-B7A9-BBCF-3CFF1C62A56C}"/>
              </a:ext>
            </a:extLst>
          </p:cNvPr>
          <p:cNvSpPr/>
          <p:nvPr/>
        </p:nvSpPr>
        <p:spPr>
          <a:xfrm>
            <a:off x="3094415" y="1253412"/>
            <a:ext cx="1043652" cy="139483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/>
              <a:t>NBACK</a:t>
            </a:r>
            <a:endParaRPr lang="en-US" dirty="0"/>
          </a:p>
          <a:p>
            <a:pPr algn="ctr"/>
            <a:r>
              <a:rPr lang="en-US" dirty="0"/>
              <a:t>Offline</a:t>
            </a:r>
            <a:endParaRPr lang="en-L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651657-85D8-8660-BAD7-77B9091099D7}"/>
              </a:ext>
            </a:extLst>
          </p:cNvPr>
          <p:cNvSpPr txBox="1"/>
          <p:nvPr/>
        </p:nvSpPr>
        <p:spPr>
          <a:xfrm>
            <a:off x="5680172" y="914421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/>
              <a:t>2 min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37FC6E6-6ECC-5896-730F-FB5ED3AB6986}"/>
              </a:ext>
            </a:extLst>
          </p:cNvPr>
          <p:cNvSpPr/>
          <p:nvPr/>
        </p:nvSpPr>
        <p:spPr>
          <a:xfrm>
            <a:off x="4155575" y="1262460"/>
            <a:ext cx="530877" cy="13476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dirty="0"/>
              <a:t>EC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1D14D7-93E5-FDA7-D3A1-28F4773BF144}"/>
              </a:ext>
            </a:extLst>
          </p:cNvPr>
          <p:cNvSpPr txBox="1"/>
          <p:nvPr/>
        </p:nvSpPr>
        <p:spPr>
          <a:xfrm>
            <a:off x="4078794" y="90871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/>
              <a:t>2 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9465D4-042D-7227-44C6-32CA5A63933F}"/>
              </a:ext>
            </a:extLst>
          </p:cNvPr>
          <p:cNvSpPr txBox="1"/>
          <p:nvPr/>
        </p:nvSpPr>
        <p:spPr>
          <a:xfrm>
            <a:off x="253739" y="632441"/>
            <a:ext cx="95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Day 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F87D0F3-C41A-E93F-ED52-71EA3C3B2C5F}"/>
              </a:ext>
            </a:extLst>
          </p:cNvPr>
          <p:cNvSpPr/>
          <p:nvPr/>
        </p:nvSpPr>
        <p:spPr>
          <a:xfrm>
            <a:off x="873346" y="4586554"/>
            <a:ext cx="1069431" cy="13948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/>
              <a:t>tACS</a:t>
            </a:r>
            <a:r>
              <a:rPr lang="en-US" dirty="0"/>
              <a:t>/</a:t>
            </a:r>
          </a:p>
          <a:p>
            <a:pPr algn="ctr"/>
            <a:r>
              <a:rPr lang="en-US" dirty="0"/>
              <a:t>control</a:t>
            </a:r>
            <a:endParaRPr lang="en-L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9221D6-7EF6-2CE1-204B-C17572FD7D7F}"/>
              </a:ext>
            </a:extLst>
          </p:cNvPr>
          <p:cNvSpPr txBox="1"/>
          <p:nvPr/>
        </p:nvSpPr>
        <p:spPr>
          <a:xfrm>
            <a:off x="755404" y="6020833"/>
            <a:ext cx="1292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LB" dirty="0"/>
              <a:t>20 minutes</a:t>
            </a:r>
          </a:p>
          <a:p>
            <a:pPr algn="ctr"/>
            <a:r>
              <a:rPr lang="en-LB" dirty="0"/>
              <a:t>2 mA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9DFFF-C19E-81B6-2A64-CF5BD241D65D}"/>
              </a:ext>
            </a:extLst>
          </p:cNvPr>
          <p:cNvSpPr txBox="1"/>
          <p:nvPr/>
        </p:nvSpPr>
        <p:spPr>
          <a:xfrm>
            <a:off x="2313558" y="5952098"/>
            <a:ext cx="1608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</a:t>
            </a:r>
            <a:r>
              <a:rPr lang="en-LB"/>
              <a:t> </a:t>
            </a:r>
            <a:r>
              <a:rPr lang="en-LB" dirty="0"/>
              <a:t>blocks</a:t>
            </a:r>
          </a:p>
          <a:p>
            <a:pPr algn="ctr"/>
            <a:r>
              <a:rPr lang="en-US" dirty="0"/>
              <a:t>5</a:t>
            </a:r>
            <a:r>
              <a:rPr lang="en-LB"/>
              <a:t>0 </a:t>
            </a:r>
            <a:r>
              <a:rPr lang="en-LB" dirty="0"/>
              <a:t>trials/block</a:t>
            </a:r>
          </a:p>
          <a:p>
            <a:pPr algn="ctr"/>
            <a:r>
              <a:rPr lang="en-LB" dirty="0"/>
              <a:t>N = 2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4357138-EC5A-9CC3-CAE4-F0CF24DA10F7}"/>
              </a:ext>
            </a:extLst>
          </p:cNvPr>
          <p:cNvSpPr/>
          <p:nvPr/>
        </p:nvSpPr>
        <p:spPr>
          <a:xfrm>
            <a:off x="1942777" y="4591079"/>
            <a:ext cx="560325" cy="139030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dirty="0"/>
              <a:t>EC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EEF1D9-E6EF-A19A-E3F4-E8CAED69793D}"/>
              </a:ext>
            </a:extLst>
          </p:cNvPr>
          <p:cNvSpPr txBox="1"/>
          <p:nvPr/>
        </p:nvSpPr>
        <p:spPr>
          <a:xfrm>
            <a:off x="1856986" y="4256379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/>
              <a:t>2 min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B42B2DD-5031-49E7-2232-500FFF782BBC}"/>
              </a:ext>
            </a:extLst>
          </p:cNvPr>
          <p:cNvSpPr/>
          <p:nvPr/>
        </p:nvSpPr>
        <p:spPr>
          <a:xfrm>
            <a:off x="332389" y="4604418"/>
            <a:ext cx="530877" cy="13476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 dirty="0"/>
              <a:t>EC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F3DA59-8E3A-32C1-CD55-32EAC7B89CAF}"/>
              </a:ext>
            </a:extLst>
          </p:cNvPr>
          <p:cNvSpPr txBox="1"/>
          <p:nvPr/>
        </p:nvSpPr>
        <p:spPr>
          <a:xfrm>
            <a:off x="255608" y="4250668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/>
              <a:t>2 min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ADFE9B-5127-FC02-17F2-238755396F21}"/>
              </a:ext>
            </a:extLst>
          </p:cNvPr>
          <p:cNvSpPr txBox="1"/>
          <p:nvPr/>
        </p:nvSpPr>
        <p:spPr>
          <a:xfrm>
            <a:off x="253739" y="3830963"/>
            <a:ext cx="95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Day 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F238E9B-54AC-EC3C-0E1F-269DAA550F4B}"/>
              </a:ext>
            </a:extLst>
          </p:cNvPr>
          <p:cNvSpPr/>
          <p:nvPr/>
        </p:nvSpPr>
        <p:spPr>
          <a:xfrm>
            <a:off x="2503102" y="4567504"/>
            <a:ext cx="1069431" cy="141388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/>
              <a:t>NBACK</a:t>
            </a:r>
            <a:endParaRPr lang="en-US" dirty="0"/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BCI</a:t>
            </a:r>
            <a:endParaRPr lang="en-LB"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4D3EF9A-2B93-FE9A-4046-992BCE697854}"/>
              </a:ext>
            </a:extLst>
          </p:cNvPr>
          <p:cNvSpPr/>
          <p:nvPr/>
        </p:nvSpPr>
        <p:spPr>
          <a:xfrm>
            <a:off x="3576519" y="4552861"/>
            <a:ext cx="1069431" cy="141388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/>
              <a:t>NBACK</a:t>
            </a:r>
            <a:endParaRPr lang="en-US" dirty="0"/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BCI</a:t>
            </a:r>
            <a:endParaRPr lang="en-LB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8858AD1-A668-5D80-54AE-DC9D3AE560B3}"/>
              </a:ext>
            </a:extLst>
          </p:cNvPr>
          <p:cNvSpPr/>
          <p:nvPr/>
        </p:nvSpPr>
        <p:spPr>
          <a:xfrm>
            <a:off x="4645950" y="4552861"/>
            <a:ext cx="1069431" cy="141388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B"/>
              <a:t>NBACK</a:t>
            </a:r>
            <a:endParaRPr lang="en-US" dirty="0"/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BCI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419892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9E7A-9623-CE6C-BDC9-2655AC57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5D02B-6F6D-0C8B-CDC4-B9303D784DC4}"/>
              </a:ext>
            </a:extLst>
          </p:cNvPr>
          <p:cNvSpPr txBox="1"/>
          <p:nvPr/>
        </p:nvSpPr>
        <p:spPr>
          <a:xfrm>
            <a:off x="967563" y="1456660"/>
            <a:ext cx="108239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Each student will have 1 folder with their subject ID on </a:t>
            </a:r>
            <a:r>
              <a:rPr lang="en-US" dirty="0"/>
              <a:t>it containing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/>
              <a:t>Nback </a:t>
            </a:r>
            <a:r>
              <a:rPr lang="en-LB" dirty="0"/>
              <a:t>task data </a:t>
            </a:r>
            <a:r>
              <a:rPr lang="en-LB"/>
              <a:t>before </a:t>
            </a:r>
            <a:r>
              <a:rPr lang="en-US" dirty="0"/>
              <a:t>tACS</a:t>
            </a:r>
            <a:r>
              <a:rPr lang="en-LB"/>
              <a:t> : ses-S00</a:t>
            </a:r>
            <a:r>
              <a:rPr lang="en-US" b="1" u="sng" dirty="0">
                <a:solidFill>
                  <a:srgbClr val="C00000"/>
                </a:solidFill>
              </a:rPr>
              <a:t>1</a:t>
            </a:r>
            <a:r>
              <a:rPr lang="en-US" dirty="0"/>
              <a:t>N2pre</a:t>
            </a:r>
            <a:endParaRPr lang="en-US" b="1" u="sng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/>
              <a:t>Eyes </a:t>
            </a:r>
            <a:r>
              <a:rPr lang="en-LB" dirty="0"/>
              <a:t>closed data </a:t>
            </a:r>
            <a:r>
              <a:rPr lang="en-LB"/>
              <a:t>before </a:t>
            </a:r>
            <a:r>
              <a:rPr lang="en-US" dirty="0"/>
              <a:t>tACS</a:t>
            </a:r>
            <a:r>
              <a:rPr lang="en-LB"/>
              <a:t> : ses-S00</a:t>
            </a:r>
            <a:r>
              <a:rPr lang="en-US" b="1" u="sng" dirty="0">
                <a:solidFill>
                  <a:srgbClr val="C00000"/>
                </a:solidFill>
              </a:rPr>
              <a:t>1</a:t>
            </a:r>
            <a:r>
              <a:rPr lang="en-LB"/>
              <a:t>ecpre</a:t>
            </a:r>
            <a:endParaRPr lang="en-L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Nback task data </a:t>
            </a:r>
            <a:r>
              <a:rPr lang="en-LB"/>
              <a:t>after </a:t>
            </a:r>
            <a:r>
              <a:rPr lang="en-US" dirty="0"/>
              <a:t>tACS</a:t>
            </a:r>
            <a:r>
              <a:rPr lang="en-LB"/>
              <a:t> : ses-S00</a:t>
            </a:r>
            <a:r>
              <a:rPr lang="en-US" b="1" u="sng" dirty="0">
                <a:solidFill>
                  <a:srgbClr val="C00000"/>
                </a:solidFill>
              </a:rPr>
              <a:t>1</a:t>
            </a:r>
            <a:r>
              <a:rPr lang="en-US" dirty="0"/>
              <a:t>N2post</a:t>
            </a:r>
            <a:endParaRPr lang="en-L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Eyes closed data </a:t>
            </a:r>
            <a:r>
              <a:rPr lang="en-LB"/>
              <a:t>after </a:t>
            </a:r>
            <a:r>
              <a:rPr lang="en-US" dirty="0"/>
              <a:t>tACS</a:t>
            </a:r>
            <a:r>
              <a:rPr lang="en-LB"/>
              <a:t> : ses-S00</a:t>
            </a:r>
            <a:r>
              <a:rPr lang="en-US" b="1" u="sng" dirty="0">
                <a:solidFill>
                  <a:srgbClr val="C00000"/>
                </a:solidFill>
              </a:rPr>
              <a:t>1</a:t>
            </a:r>
            <a:r>
              <a:rPr lang="en-LB"/>
              <a:t>ecpost</a:t>
            </a:r>
            <a:endParaRPr lang="en-LB" dirty="0"/>
          </a:p>
          <a:p>
            <a:pPr lvl="1"/>
            <a:endParaRPr lang="en-LB" dirty="0"/>
          </a:p>
          <a:p>
            <a:endParaRPr lang="en-L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ch32Locations.mat : channels location/name for </a:t>
            </a:r>
            <a:r>
              <a:rPr lang="en-LB"/>
              <a:t>the </a:t>
            </a:r>
            <a:r>
              <a:rPr lang="en-US" dirty="0"/>
              <a:t>EEG </a:t>
            </a:r>
            <a:r>
              <a:rPr lang="en-LB"/>
              <a:t>data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367057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F543-DEC3-EEE0-8BA4-4B42CFF0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Data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37934-881F-57CF-4E71-C1597BD7D141}"/>
              </a:ext>
            </a:extLst>
          </p:cNvPr>
          <p:cNvSpPr txBox="1"/>
          <p:nvPr/>
        </p:nvSpPr>
        <p:spPr>
          <a:xfrm>
            <a:off x="988828" y="1403498"/>
            <a:ext cx="108345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Eyes closed and Eyes open data will contain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/>
              <a:t>EEG</a:t>
            </a:r>
            <a:r>
              <a:rPr lang="en-US" dirty="0"/>
              <a:t> </a:t>
            </a:r>
            <a:r>
              <a:rPr lang="en-LB"/>
              <a:t>data</a:t>
            </a:r>
            <a:endParaRPr lang="en-L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L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Nback data will contain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1 stream with 2 cells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Each cell contains : info (MarkerStream for the markers (explained next slide) and EEG/EOG for the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time_series : Markers data or EEG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time_stamps : time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You can find additional information in the streams (sampling rate, channel names, 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L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EEG data is in the first 32 channels in the EEG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EOG data is in “AUX 7”, “AUX 8” channels</a:t>
            </a:r>
          </a:p>
          <a:p>
            <a:endParaRPr lang="en-LB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L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89FD6-1345-527B-69CA-C7022B2A73EC}"/>
              </a:ext>
            </a:extLst>
          </p:cNvPr>
          <p:cNvSpPr txBox="1"/>
          <p:nvPr/>
        </p:nvSpPr>
        <p:spPr>
          <a:xfrm>
            <a:off x="542260" y="6123543"/>
            <a:ext cx="8044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B" dirty="0"/>
              <a:t>Hint : If you are using matlab, load the data using streams = loadxdf(…) function </a:t>
            </a:r>
          </a:p>
        </p:txBody>
      </p:sp>
    </p:spTree>
    <p:extLst>
      <p:ext uri="{BB962C8B-B14F-4D97-AF65-F5344CB8AC3E}">
        <p14:creationId xmlns:p14="http://schemas.microsoft.com/office/powerpoint/2010/main" val="26428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C06-D26F-0E51-2962-531C30D2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B" dirty="0"/>
              <a:t>Marker Stream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59585-93C7-DA4B-A817-F6875C1DAE42}"/>
              </a:ext>
            </a:extLst>
          </p:cNvPr>
          <p:cNvSpPr txBox="1"/>
          <p:nvPr/>
        </p:nvSpPr>
        <p:spPr>
          <a:xfrm>
            <a:off x="999460" y="1616149"/>
            <a:ext cx="104411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The following values indicate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0 : Trial start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100 : Button press + match (subject answered yes)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200 : Button press + non-match (subject answered no)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300 : Timeout (subject did not answer in time)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400 : Trial 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1 : Correct trial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2 : Incorrect trial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11 : Match trials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LB" dirty="0"/>
              <a:t>12 : Non-match trials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L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LB" dirty="0"/>
              <a:t>In the marker stream, each marker value is paired with the corresponding timestamp</a:t>
            </a:r>
          </a:p>
        </p:txBody>
      </p:sp>
    </p:spTree>
    <p:extLst>
      <p:ext uri="{BB962C8B-B14F-4D97-AF65-F5344CB8AC3E}">
        <p14:creationId xmlns:p14="http://schemas.microsoft.com/office/powerpoint/2010/main" val="228863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421</Words>
  <Application>Microsoft Macintosh PowerPoint</Application>
  <PresentationFormat>Widescreen</PresentationFormat>
  <Paragraphs>104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Data Explanation</vt:lpstr>
      <vt:lpstr>TASK DESIGN – NBACK</vt:lpstr>
      <vt:lpstr>PowerPoint Presentation</vt:lpstr>
      <vt:lpstr>Files</vt:lpstr>
      <vt:lpstr>Data Format</vt:lpstr>
      <vt:lpstr>Marker Stream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Mikhael, Alexandra</dc:creator>
  <cp:lastModifiedBy>Mikhael, Alexandra</cp:lastModifiedBy>
  <cp:revision>16</cp:revision>
  <dcterms:created xsi:type="dcterms:W3CDTF">2025-11-03T23:02:50Z</dcterms:created>
  <dcterms:modified xsi:type="dcterms:W3CDTF">2026-02-24T18:00:49Z</dcterms:modified>
</cp:coreProperties>
</file>